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21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85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028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4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922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61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052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596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900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944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8326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33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6242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388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3937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66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81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6347713" cy="1239530"/>
          </a:xfrm>
        </p:spPr>
        <p:txBody>
          <a:bodyPr>
            <a:normAutofit/>
          </a:bodyPr>
          <a:lstStyle/>
          <a:p>
            <a:r>
              <a:rPr lang="en-US" dirty="0"/>
              <a:t>Graph Databases vs Relational Databases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891" y="1417638"/>
            <a:ext cx="8229600" cy="516572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Case Study: Movie Recommendation System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Course:</a:t>
            </a:r>
            <a:r>
              <a:rPr lang="en-US" dirty="0"/>
              <a:t> Non-SQL Databases (from RDBMS to </a:t>
            </a:r>
            <a:r>
              <a:rPr lang="en-US" dirty="0" err="1"/>
              <a:t>VectorDB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Authors:</a:t>
            </a:r>
            <a:br>
              <a:rPr lang="en-US" dirty="0"/>
            </a:br>
            <a:r>
              <a:rPr lang="en-US" dirty="0"/>
              <a:t>Stanica Victor-Andrei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Apostu</a:t>
            </a:r>
            <a:r>
              <a:rPr lang="en-US" dirty="0"/>
              <a:t> Alexandru-Costin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Technologies: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Neo4j (Cypher)</a:t>
            </a:r>
          </a:p>
          <a:p>
            <a:pPr marL="0" indent="0">
              <a:buNone/>
            </a:pPr>
            <a:r>
              <a:rPr lang="en-US" dirty="0"/>
              <a:t>      MySQL 8.0</a:t>
            </a:r>
          </a:p>
          <a:p>
            <a:pPr marL="0" indent="0">
              <a:buNone/>
            </a:pPr>
            <a:r>
              <a:rPr lang="en-US" dirty="0"/>
              <a:t>      Python 3 (neo4j-driver, </a:t>
            </a:r>
            <a:r>
              <a:rPr lang="en-US" dirty="0" err="1"/>
              <a:t>mysql</a:t>
            </a:r>
            <a:r>
              <a:rPr lang="en-US" dirty="0"/>
              <a:t>-connector-python)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Inspired by:</a:t>
            </a:r>
            <a:br>
              <a:rPr lang="en-US" dirty="0"/>
            </a:br>
            <a:r>
              <a:rPr lang="en-US" i="1" dirty="0"/>
              <a:t>Neo4j vs SQL – Unlocking the Power of Graph-Based Data Modeling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285135"/>
            <a:ext cx="6347713" cy="1315065"/>
          </a:xfrm>
        </p:spPr>
        <p:txBody>
          <a:bodyPr>
            <a:normAutofit/>
          </a:bodyPr>
          <a:lstStyle/>
          <a:p>
            <a:r>
              <a:rPr dirty="0"/>
              <a:t>Problem &amp; Motivation – Why Graph Databases?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74458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Relational databases struggle with: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dirty="0"/>
              <a:t>- Many-to-many relationships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Recursive joins (friends-of-friends)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Recommendation queries</a:t>
            </a:r>
          </a:p>
          <a:p>
            <a:endParaRPr dirty="0"/>
          </a:p>
          <a:p>
            <a:r>
              <a:rPr dirty="0"/>
              <a:t>Graph databases are optimized for: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Connected data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Traversals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Pattern matching</a:t>
            </a:r>
          </a:p>
          <a:p>
            <a:endParaRPr dirty="0"/>
          </a:p>
          <a:p>
            <a:r>
              <a:rPr dirty="0"/>
              <a:t>Goal: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Reveal non-trivial relationships between users, movies, genres, and people.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dirty="0"/>
              <a:t>Nodes: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User (</a:t>
            </a:r>
            <a:r>
              <a:rPr dirty="0" err="1"/>
              <a:t>userId</a:t>
            </a:r>
            <a:r>
              <a:rPr dirty="0"/>
              <a:t>, name, age, city)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Movie (</a:t>
            </a:r>
            <a:r>
              <a:rPr dirty="0" err="1"/>
              <a:t>movieId</a:t>
            </a:r>
            <a:r>
              <a:rPr dirty="0"/>
              <a:t>, title, year)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Person (</a:t>
            </a:r>
            <a:r>
              <a:rPr dirty="0" err="1"/>
              <a:t>personId</a:t>
            </a:r>
            <a:r>
              <a:rPr dirty="0"/>
              <a:t>, name)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Genre (name)</a:t>
            </a:r>
          </a:p>
          <a:p>
            <a:endParaRPr dirty="0"/>
          </a:p>
          <a:p>
            <a:r>
              <a:rPr dirty="0"/>
              <a:t>Relationships: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(User)-[:RATED]-&gt;(Movie)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(User)-[:FRIEND]-&gt;(User)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(Person)-[:ACTED_IN]-&gt;(Movie)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(Person)-[:DIRECTED]-&gt;(Movie)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(Movie)-[:IN_GENRE]-&gt;(Genre)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A777EF-1526-7BB8-AA3F-4C30E0F5B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265" y="1600200"/>
            <a:ext cx="3864077" cy="47121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Relational Model (SQL)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38C882E-D1AB-FCFF-460F-262E2F0338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4569" y="1455174"/>
            <a:ext cx="6164826" cy="458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Example Cypher Queries – Pattern Matching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FFC15D-7834-AB05-A42A-580D524270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2246877"/>
            <a:ext cx="803787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Friends-of-Friends (FOF)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Shortest Path Between Two Users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Friends-of-Friends Movie Recommendations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Genre-Based User Similarity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Movie-Based User Similarity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Collaborative Filtering Recommendations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Co-Actors Detection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Graph Traversal</a:t>
            </a:r>
            <a:r>
              <a:rPr lang="en-US" dirty="0"/>
              <a:t> SQL vs Neo4J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7711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			Shortest path between users: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	Queries that involve graph 											traversal are significantly 												more readable in Neo4j</a:t>
            </a:r>
            <a:endParaRPr dirty="0"/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968B606A-317C-429A-5101-5C559C2A3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281" y="2006601"/>
            <a:ext cx="1818814" cy="413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7F72DC94-2C37-F01B-11A3-927F5DD0F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668" y="2060268"/>
            <a:ext cx="3804009" cy="139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&amp; Metrics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30097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Sql</a:t>
            </a:r>
            <a:r>
              <a:rPr lang="en-US" dirty="0"/>
              <a:t> is faster on small data sets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363B0-1093-96CE-CC49-6762F50A9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56" y="2185659"/>
            <a:ext cx="6095998" cy="36591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Performance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157019" cy="4898922"/>
          </a:xfrm>
        </p:spPr>
        <p:txBody>
          <a:bodyPr>
            <a:normAutofit/>
          </a:bodyPr>
          <a:lstStyle/>
          <a:p>
            <a:r>
              <a:rPr dirty="0"/>
              <a:t>Evaluation Summary:</a:t>
            </a:r>
          </a:p>
          <a:p>
            <a:endParaRPr dirty="0"/>
          </a:p>
          <a:p>
            <a:r>
              <a:rPr dirty="0"/>
              <a:t>MySQL: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Faster raw execution time</a:t>
            </a:r>
            <a:endParaRPr lang="en-US" dirty="0"/>
          </a:p>
          <a:p>
            <a:pPr marL="0" indent="0">
              <a:buNone/>
            </a:pPr>
            <a:r>
              <a:rPr dirty="0"/>
              <a:t> </a:t>
            </a:r>
            <a:r>
              <a:rPr lang="en-US" dirty="0"/>
              <a:t>	</a:t>
            </a:r>
            <a:r>
              <a:rPr dirty="0"/>
              <a:t>on</a:t>
            </a:r>
            <a:r>
              <a:rPr lang="en-US" dirty="0"/>
              <a:t> </a:t>
            </a:r>
            <a:r>
              <a:rPr dirty="0"/>
              <a:t>small</a:t>
            </a:r>
            <a:r>
              <a:rPr lang="en-US" dirty="0"/>
              <a:t> </a:t>
            </a:r>
            <a:r>
              <a:rPr dirty="0"/>
              <a:t>datasets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Neo4j: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</a:t>
            </a:r>
            <a:r>
              <a:rPr lang="en-US" dirty="0"/>
              <a:t>Advantage grows as data </a:t>
            </a:r>
          </a:p>
          <a:p>
            <a:pPr marL="0" indent="0">
              <a:buNone/>
            </a:pPr>
            <a:r>
              <a:rPr lang="en-US" dirty="0"/>
              <a:t>	size increases 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Same results returned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Superior expressiveness</a:t>
            </a:r>
          </a:p>
          <a:p>
            <a:endParaRPr dirty="0"/>
          </a:p>
        </p:txBody>
      </p:sp>
      <p:sp>
        <p:nvSpPr>
          <p:cNvPr id="5" name="AutoShape 4" descr="Output image">
            <a:extLst>
              <a:ext uri="{FF2B5EF4-FFF2-40B4-BE49-F238E27FC236}">
                <a16:creationId xmlns:a16="http://schemas.microsoft.com/office/drawing/2014/main" id="{3B1032C5-74CA-CC38-8231-9FFA05DB5D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CB9947-6E35-60F9-D8FC-5D8A613BE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549" y="1600201"/>
            <a:ext cx="3696928" cy="42770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with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31773"/>
          </a:xfrm>
        </p:spPr>
        <p:txBody>
          <a:bodyPr>
            <a:normAutofit/>
          </a:bodyPr>
          <a:lstStyle/>
          <a:p>
            <a:r>
              <a:rPr dirty="0"/>
              <a:t>Neo4j Python Driver: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from neo4j import </a:t>
            </a:r>
            <a:r>
              <a:rPr dirty="0" err="1"/>
              <a:t>GraphDatabase</a:t>
            </a:r>
            <a:endParaRPr dirty="0"/>
          </a:p>
          <a:p>
            <a:pPr marL="0" indent="0">
              <a:buNone/>
            </a:pPr>
            <a:r>
              <a:rPr lang="en-US" dirty="0"/>
              <a:t>	driver = </a:t>
            </a:r>
            <a:r>
              <a:rPr lang="en-US" dirty="0" err="1"/>
              <a:t>GraphDatabase.driver</a:t>
            </a:r>
            <a:r>
              <a:rPr lang="en-US" dirty="0"/>
              <a:t>(NEO4J_URI, 						   auth=(NEO4J_USER, NEO4J_PASS))</a:t>
            </a:r>
            <a:endParaRPr dirty="0"/>
          </a:p>
          <a:p>
            <a:endParaRPr dirty="0"/>
          </a:p>
          <a:p>
            <a:r>
              <a:rPr dirty="0"/>
              <a:t>User inputs:</a:t>
            </a:r>
            <a:endParaRPr lang="en-US" dirty="0"/>
          </a:p>
          <a:p>
            <a:r>
              <a:rPr lang="en-US" dirty="0"/>
              <a:t>  - Query number</a:t>
            </a:r>
            <a:endParaRPr dirty="0"/>
          </a:p>
          <a:p>
            <a:pPr marL="0" indent="0">
              <a:buNone/>
            </a:pPr>
            <a:r>
              <a:rPr lang="en-US" dirty="0"/>
              <a:t>	-</a:t>
            </a:r>
            <a:r>
              <a:rPr dirty="0"/>
              <a:t> User ID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</a:t>
            </a:r>
            <a:r>
              <a:rPr lang="en-US" dirty="0"/>
              <a:t> Number of results limit</a:t>
            </a:r>
          </a:p>
          <a:p>
            <a:pPr marL="0" indent="0">
              <a:buNone/>
            </a:pPr>
            <a:endParaRPr dirty="0"/>
          </a:p>
          <a:p>
            <a:r>
              <a:rPr lang="en-US" dirty="0"/>
              <a:t>Outputs:</a:t>
            </a:r>
          </a:p>
          <a:p>
            <a:pPr marL="0" indent="0">
              <a:buNone/>
            </a:pPr>
            <a:r>
              <a:rPr lang="en-US" dirty="0"/>
              <a:t>	- Result of the chosen query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8106BE-49D9-391D-F7D7-56C955678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127477"/>
            <a:ext cx="3636063" cy="31209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63096"/>
            <a:ext cx="8229600" cy="4070555"/>
          </a:xfrm>
        </p:spPr>
        <p:txBody>
          <a:bodyPr>
            <a:normAutofit/>
          </a:bodyPr>
          <a:lstStyle/>
          <a:p>
            <a:r>
              <a:rPr dirty="0"/>
              <a:t>Key Takeaways:</a:t>
            </a:r>
          </a:p>
          <a:p>
            <a:pPr marL="0" indent="0" fontAlgn="base">
              <a:buNone/>
            </a:pPr>
            <a:r>
              <a:rPr lang="en-US" dirty="0"/>
              <a:t>       </a:t>
            </a:r>
            <a:r>
              <a:rPr dirty="0"/>
              <a:t>- </a:t>
            </a:r>
            <a:r>
              <a:rPr lang="en-US" dirty="0"/>
              <a:t>SQL performs better for simple, join-based queries </a:t>
            </a:r>
          </a:p>
          <a:p>
            <a:pPr marL="0" indent="0" fontAlgn="base">
              <a:buNone/>
            </a:pPr>
            <a:r>
              <a:rPr lang="en-US" dirty="0"/>
              <a:t>	- Neo4j excels at graph traversal and shortest path queries </a:t>
            </a:r>
          </a:p>
          <a:p>
            <a:pPr marL="0" indent="0" fontAlgn="base">
              <a:buNone/>
            </a:pPr>
            <a:r>
              <a:rPr lang="en-US" dirty="0"/>
              <a:t>	- Cypher queries are more readable for relationship-heavy problems</a:t>
            </a:r>
          </a:p>
          <a:p>
            <a:pPr marL="0" indent="0" fontAlgn="base">
              <a:buNone/>
            </a:pPr>
            <a:r>
              <a:rPr lang="en-US" dirty="0"/>
              <a:t>	- Performance depends on query type, not only database size</a:t>
            </a:r>
          </a:p>
          <a:p>
            <a:endParaRPr dirty="0"/>
          </a:p>
          <a:p>
            <a:r>
              <a:rPr lang="en-US" dirty="0"/>
              <a:t>Final insight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</a:t>
            </a:r>
            <a:r>
              <a:rPr lang="en-US" dirty="0"/>
              <a:t> Graph databases are more suitable for highly connected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89</TotalTime>
  <Words>489</Words>
  <Application>Microsoft Office PowerPoint</Application>
  <PresentationFormat>On-screen Show (4:3)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Graph Databases vs Relational Databases</vt:lpstr>
      <vt:lpstr>Problem &amp; Motivation – Why Graph Databases?</vt:lpstr>
      <vt:lpstr>Graph Data Model</vt:lpstr>
      <vt:lpstr>Relational Model (SQL)</vt:lpstr>
      <vt:lpstr>Example Cypher Queries – Pattern Matching</vt:lpstr>
      <vt:lpstr>Graph Traversal SQL vs Neo4J</vt:lpstr>
      <vt:lpstr>Performance &amp; Metrics</vt:lpstr>
      <vt:lpstr>Performance &amp; Metrics</vt:lpstr>
      <vt:lpstr>Integration with Python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ALEXANDRU COSTIN APOSTU</cp:lastModifiedBy>
  <cp:revision>4</cp:revision>
  <dcterms:created xsi:type="dcterms:W3CDTF">2013-01-27T09:14:16Z</dcterms:created>
  <dcterms:modified xsi:type="dcterms:W3CDTF">2026-01-22T17:21:54Z</dcterms:modified>
  <cp:category/>
</cp:coreProperties>
</file>